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6BCB"/>
                </a:solidFill>
                <a:latin typeface="IBM Plex Sans Thai"/>
              </a:rPr>
              <a:t>FINAL PROJECT · LAUNDROTWIN (LAUNDRYGO)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4000" b="1">
                <a:solidFill>
                  <a:srgbClr val="0F1720"/>
                </a:solidFill>
                <a:latin typeface="IBM Plex Sans Thai"/>
              </a:rPr>
              <a:t>Safe AI Executive Assistant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0F1720"/>
                </a:solidFill>
                <a:latin typeface="IBM Plex Sans Thai"/>
              </a:rPr>
              <a:t>ที่ตอบจาก “ข้อมูลจริง” ไม่ใช่การเดา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6B7C8F"/>
                </a:solidFill>
                <a:latin typeface="IBM Plex Sans Thai"/>
              </a:rPr>
              <a:t>ออกแบบโครงสร้างข้อมูล (Data Structure for LLM) และ Function Calling ที่ปลอดภัย เพื่อให้ผู้บริหารถามเป็นภาษาคนแล้วได้คำตอบที่ตรวจสอบย้อนกลับได้ทุกตัวเลข ภายใต้สิทธิ์และขอบเขตสาขาของผู้ใช้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F1720"/>
                </a:solidFill>
                <a:latin typeface="IBM Plex Sans Thai"/>
              </a:rPr>
              <a:t>ขอบเขต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7C8F"/>
                </a:solidFill>
                <a:latin typeface="IBM Plex Sans Thai"/>
              </a:rPr>
              <a:t>R08 · F-11 · F-07 · US-05 (MVP)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89204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F1720"/>
                </a:solidFill>
                <a:latin typeface="IBM Plex Sans Thai"/>
              </a:rPr>
              <a:t>ต่อยอด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7C8F"/>
                </a:solidFill>
                <a:latin typeface="IBM Plex Sans Thai"/>
              </a:rPr>
              <a:t>R09 · F-12 · US-06 (Phase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89204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F1720"/>
                </a:solidFill>
                <a:latin typeface="IBM Plex Sans Thai"/>
              </a:rPr>
              <a:t>สถานะปัจจุบัน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7C8F"/>
                </a:solidFill>
                <a:latin typeface="IBM Plex Sans Thai"/>
              </a:rPr>
              <a:t>implement แล้ว · MCP allow-list + RBAC scope + audit (ยืนยัน 2026-09-06)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489204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1">
                <a:solidFill>
                  <a:srgbClr val="0F1720"/>
                </a:solidFill>
                <a:latin typeface="IBM Plex Sans Thai"/>
              </a:rPr>
              <a:t>ฐานที่มีแล้ว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7C8F"/>
                </a:solidFill>
                <a:latin typeface="IBM Plex Sans Thai"/>
              </a:rPr>
              <a:t>Telemetry · Dashboard · RBAC · LINE Alert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LaundroTwin — Smart Laundry Management and Analytics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ปัญหา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ถ้าปล่อยให้ LLM ตอบเองแบบกล่องดำ จะพังตรงไหน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9692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C8F"/>
                </a:solidFill>
                <a:latin typeface="IBM Plex Sans Thai"/>
              </a:rPr>
              <a:t>โจทย์ไม่ใช่ “ต่อ LLM ได้ไหม” แต่คือ “จะเชื่อคำตอบได้อย่างไร”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38528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FDECEB"/>
          </a:solidFill>
          <a:ln w="12700">
            <a:solidFill>
              <a:srgbClr val="F3B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384048" bIns="109728">
            <a:norm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B42318"/>
                </a:solidFill>
                <a:latin typeface="IBM Plex Sans Thai"/>
              </a:rPr>
              <a:t>Blackbox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โยนคำถามและข้อมูลดิบ (หรือสิทธิ์ query ฐานข้อมูล) ให้ LLM แล้วหวังว่าจะตอบถูก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ตัวเลขหลอน (hallucination) ตรวจย้อนกลับไม่ได้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LLM เขียน SQL เอง = ช่องโหว่ข้ามสาขา ข้ามสิทธิ์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ข้อมูลดิบยาวเกิน context และเปลืองต้นทุน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ตอบไม่เหมือนเดิมทุกครั้ง (non-deterministic)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ไม่มีหลักฐานว่าใครถามอะไร ระบบตอบจากอะไร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66544"/>
            <a:ext cx="1682496" cy="237744"/>
          </a:xfrm>
          <a:prstGeom prst="roundRect">
            <a:avLst>
              <a:gd name="adj" fmla="val 50000"/>
            </a:avLst>
          </a:prstGeom>
          <a:solidFill>
            <a:srgbClr val="FA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2318"/>
                </a:solidFill>
                <a:latin typeface="IBM Plex Sans Thai"/>
              </a:rPr>
              <a:t>แบบที่ไม่เอา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73368" y="1938528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E3F4EC"/>
          </a:solidFill>
          <a:ln w="12700">
            <a:solidFill>
              <a:srgbClr val="B7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384048" bIns="109728">
            <a:norm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0F7B52"/>
                </a:solidFill>
                <a:latin typeface="IBM Plex Sans Thai"/>
              </a:rPr>
              <a:t>Structured Function Calling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LLM ทำหน้าที่แปลภาษาคนเป็นการเลือกเครื่องมือ และเรียบเรียงคำตอบเท่านั้น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ตัวเลขทั้งหมดมาจาก Analytics Function ที่ผ่านการทดสอบ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Backend ตรวจ RBAC และ branch_id ก่อน query เสมอ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ส่งเฉพาะข้อมูลสรุปแล้วขนาดเล็กเข้า context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ผลลัพธ์คงที่ ทดสอบซ้ำได้ด้วย unit test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•  Audit log ครบ: prompt, tool, args, ผลลัพธ์อ้างอิง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9672" y="2066544"/>
            <a:ext cx="1444752" cy="237744"/>
          </a:xfrm>
          <a:prstGeom prst="roundRect">
            <a:avLst>
              <a:gd name="adj" fmla="val 50000"/>
            </a:avLst>
          </a:prstGeom>
          <a:solidFill>
            <a:srgbClr val="C9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B52"/>
                </a:solidFill>
                <a:latin typeface="IBM Plex Sans Thai"/>
              </a:rPr>
              <a:t>แบบที่จะทำ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3600" y="3392424"/>
            <a:ext cx="310896" cy="292608"/>
          </a:xfrm>
          <a:prstGeom prst="rightArrow">
            <a:avLst/>
          </a:prstGeom>
          <a:solidFill>
            <a:srgbClr val="6B7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อ้างอิงข้อกำหนด R08 — “LLM must not execute arbitrary SQL”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ภาพรวมระบบ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ข้อมูลเดินทางจากเครื่องซักผ้า ถึงคำตอบผู้บริหารอย่างไร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9692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C8F"/>
                </a:solidFill>
                <a:latin typeface="IBM Plex Sans Thai"/>
              </a:rPr>
              <a:t>กล่องที่ติดป้าย “ใหม่” คือส่วนที่เพิ่มในหัวข้อนี้ ส่วนที่เหลือคือฐานที่ระบบมีอยู่แล้ว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38528"/>
            <a:ext cx="26974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1. Edge / IoT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เครื่องซักผ้าส่ง Modbus frame เป็น telemetry event ทุก event ต้องมี branch_id และ machine_id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938528"/>
            <a:ext cx="26974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2. Ingestion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ตรวจ schema ปฏิเสธ branch_id ที่ไม่รู้จัก แปลงเป็น MACHINE_CYCLE และหลักฐานการชำระเงิน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938528"/>
            <a:ext cx="26974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3. Rollup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สรุปล่วงหน้าเป็นราย ชั่วโมง / วัน × สาขา × เครื่อง เก็บเป็นตารางสรุปพร้อมใช้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744" y="2029968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6BCB"/>
                </a:solidFill>
                <a:latin typeface="IBM Plex Sans Thai"/>
              </a:rPr>
              <a:t>ใหม่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1938528"/>
            <a:ext cx="26974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4. Analytics Functions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ฟังก์ชันสถิติแบบ parameterized ที่ allow-list ไว้ คืนค่าเป็น envelope มาตรฐาน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55096" y="2029968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6BCB"/>
                </a:solidFill>
                <a:latin typeface="IBM Plex Sans Thai"/>
              </a:rPr>
              <a:t>ใหม่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75888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5. Assistant Orchestrator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รับคำถาม ตรวจ session และสิทธิ์ ให้ LLM เลือก tool ตรวจ argument เรียก Analytics แล้วเรียบเรียงคำตอบจากผลลัพธ์เท่านั้น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767328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6BCB"/>
                </a:solidFill>
                <a:latin typeface="IBM Plex Sans Thai"/>
              </a:rPr>
              <a:t>ใหม่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675888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6. Audit Log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บันทึกแบบ append-only ว่าใครถาม ใช้ tool อะไร argument ที่ sanitize แล้ว ขอบเขตสาขา ผลลัพธ์อ้างอิง และ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3675888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7. หน้าใช้งาน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Dashboard บนเว็บ และ LINE LIFF ผู้ใช้เห็นคำตอบพร้อมช่วงเวลา ตัวชี้วัด และข้อจำกัดของข้อมูล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ทุกขั้นตอนบังคับขอบเขตสาขาที่ฝั่ง server เสมอ ตาม Data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หัวใจของงาน · ACTIVITY DIAGRAM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ลำดับการทำงานเมื่อผู้ใช้ถามคำถามเชิงวิเคราะห์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6B7C8F"/>
                </a:solidFill>
                <a:latin typeface="IBM Plex Sans Thai"/>
              </a:rPr>
              <a:t>ผู้ใช้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10512"/>
            <a:ext cx="53492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0B6BCB"/>
                </a:solidFill>
                <a:latin typeface="IBM Plex Sans Thai"/>
              </a:rPr>
              <a:t>เริ่ม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ถามเป็นภาษาคน เช่น “เดือนนี้รายได้สาขาสีลม เทียบกับเดือนที่แล้วเป็นอย่างไร”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10512"/>
            <a:ext cx="5349240" cy="621792"/>
          </a:xfrm>
          <a:prstGeom prst="roundRect">
            <a:avLst>
              <a:gd name="adj" fmla="val 8000"/>
            </a:avLst>
          </a:prstGeom>
          <a:solidFill>
            <a:srgbClr val="E3F4EC"/>
          </a:solidFill>
          <a:ln w="12700">
            <a:solidFill>
              <a:srgbClr val="B7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0F7B52"/>
                </a:solidFill>
                <a:latin typeface="IBM Plex Sans Thai"/>
              </a:rPr>
              <a:t>จบ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ได้คำตอบพร้อม ช่วงเวลา · ตัวชี้วัด · ข้อจำกัดของข้อมูล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42616"/>
            <a:ext cx="11057839" cy="126187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6B7C8F"/>
                </a:solidFill>
                <a:latin typeface="IBM Plex Sans Thai"/>
              </a:rPr>
              <a:t>ASSISTANT ORCHESTRATOR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08376"/>
            <a:ext cx="1490472" cy="768096"/>
          </a:xfrm>
          <a:prstGeom prst="roundRect">
            <a:avLst>
              <a:gd name="adj" fmla="val 8000"/>
            </a:avLst>
          </a:prstGeom>
          <a:solidFill>
            <a:srgbClr val="FDF1DE"/>
          </a:solidFill>
          <a:ln w="12700">
            <a:solidFill>
              <a:srgbClr val="F0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B4690E"/>
                </a:solidFill>
                <a:latin typeface="IBM Plex Sans Thai"/>
              </a:rPr>
              <a:t>ตรวจ 1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session และสิทธิ์สมาชิกสาขา ถูกต้องหรือไม่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4288" y="3008376"/>
            <a:ext cx="1490472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0B6BCB"/>
                </a:solidFill>
                <a:latin typeface="IBM Plex Sans Thai"/>
              </a:rPr>
              <a:t>บันทึก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เก็บคำขอที่ sanitize แล้ว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7056" y="3008376"/>
            <a:ext cx="1490472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0B6BCB"/>
                </a:solidFill>
                <a:latin typeface="IBM Plex Sans Thai"/>
              </a:rPr>
              <a:t>ตีความ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จับ intent แล้วเสนอ tool จาก allow-list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9824" y="3008376"/>
            <a:ext cx="1490472" cy="768096"/>
          </a:xfrm>
          <a:prstGeom prst="roundRect">
            <a:avLst>
              <a:gd name="adj" fmla="val 8000"/>
            </a:avLst>
          </a:prstGeom>
          <a:solidFill>
            <a:srgbClr val="FDF1DE"/>
          </a:solidFill>
          <a:ln w="12700">
            <a:solidFill>
              <a:srgbClr val="F0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B4690E"/>
                </a:solidFill>
                <a:latin typeface="IBM Plex Sans Thai"/>
              </a:rPr>
              <a:t>ตรวจ 2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tool อยู่ใน allow-list หรือไม่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22592" y="3008376"/>
            <a:ext cx="1490472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0B6BCB"/>
                </a:solidFill>
                <a:latin typeface="IBM Plex Sans Thai"/>
              </a:rPr>
              <a:t>สร้าง args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แปลงเป็น argument แบบมีโครงสร้าง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3008376"/>
            <a:ext cx="1490472" cy="768096"/>
          </a:xfrm>
          <a:prstGeom prst="roundRect">
            <a:avLst>
              <a:gd name="adj" fmla="val 8000"/>
            </a:avLst>
          </a:prstGeom>
          <a:solidFill>
            <a:srgbClr val="FDF1DE"/>
          </a:solidFill>
          <a:ln w="12700">
            <a:solidFill>
              <a:srgbClr val="F0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B4690E"/>
                </a:solidFill>
                <a:latin typeface="IBM Plex Sans Thai"/>
              </a:rPr>
              <a:t>ตรวจ 3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args ผ่าน schema validation แบบเข้มหรือไม่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68128" y="3008376"/>
            <a:ext cx="1490472" cy="768096"/>
          </a:xfrm>
          <a:prstGeom prst="roundRect">
            <a:avLst>
              <a:gd name="adj" fmla="val 8000"/>
            </a:avLst>
          </a:prstGeom>
          <a:solidFill>
            <a:srgbClr val="FDF1DE"/>
          </a:solidFill>
          <a:ln w="12700">
            <a:solidFill>
              <a:srgbClr val="F0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B4690E"/>
                </a:solidFill>
                <a:latin typeface="IBM Plex Sans Thai"/>
              </a:rPr>
              <a:t>ตรวจ 4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ขอบเขต tenant และสาขา ได้รับอนุญาตหรือไม่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14216"/>
            <a:ext cx="11057839" cy="1097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33088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6B7C8F"/>
                </a:solidFill>
                <a:latin typeface="IBM Plex Sans Thai"/>
              </a:rPr>
              <a:t>ANALYTICS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61688"/>
            <a:ext cx="354787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0B6BCB"/>
                </a:solidFill>
                <a:latin typeface="IBM Plex Sans Thai"/>
              </a:rPr>
              <a:t>ประมวลผล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รันฟังก์ชันสถิติแบบ parameterized ไม่มี SQL จาก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4361688"/>
            <a:ext cx="354787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0B6BCB"/>
                </a:solidFill>
                <a:latin typeface="IBM Plex Sans Thai"/>
              </a:rPr>
              <a:t>Log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เก็บชื่อ tool, args, scope และ result reference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2" y="4361688"/>
            <a:ext cx="3547872" cy="658368"/>
          </a:xfrm>
          <a:prstGeom prst="roundRect">
            <a:avLst>
              <a:gd name="adj" fmla="val 8000"/>
            </a:avLst>
          </a:prstGeom>
          <a:solidFill>
            <a:srgbClr val="FDF1DE"/>
          </a:solidFill>
          <a:ln w="12700">
            <a:solidFill>
              <a:srgbClr val="F0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B4690E"/>
                </a:solidFill>
                <a:latin typeface="IBM Plex Sans Thai"/>
              </a:rPr>
              <a:t>ตรวจ 5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ข้อมูลพอและตรวจย้อนกลับได้หรือไม่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21224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E3F4EC"/>
          </a:solidFill>
          <a:ln w="12700">
            <a:solidFill>
              <a:srgbClr val="B7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0F7B52"/>
                </a:solidFill>
                <a:latin typeface="IBM Plex Sans Thai"/>
              </a:rPr>
              <a:t>ผ่านทั้งหมด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เรียบเรียงคำตอบจากผลลัพธ์ของ tool เท่านั้น แล้วปิด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5221224"/>
            <a:ext cx="5440680" cy="640080"/>
          </a:xfrm>
          <a:prstGeom prst="roundRect">
            <a:avLst>
              <a:gd name="adj" fmla="val 8000"/>
            </a:avLst>
          </a:prstGeom>
          <a:solidFill>
            <a:srgbClr val="FDECEB"/>
          </a:solidFill>
          <a:ln w="12700">
            <a:solidFill>
              <a:srgbClr val="F3B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64008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850" b="1">
                <a:solidFill>
                  <a:srgbClr val="B42318"/>
                </a:solidFill>
                <a:latin typeface="IBM Plex Sans Thai"/>
              </a:rPr>
              <a:t>ไม่ผ่าน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>
                <a:solidFill>
                  <a:srgbClr val="3B4A5A"/>
                </a:solidFill>
                <a:latin typeface="IBM Plex Sans Thai"/>
              </a:rPr>
              <a:t>ปฏิเสธ / ไม่รองรับคำถาม / ข้อมูลไม่พอ พร้อมบันทึกเหตุผล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กล่องสีส้มคือประตูตรวจ ถ้าไม่ผ่านจะจบด้วยการปฏิเสธและบันทึก audit · ตรงกับ docs/02_architecture/data-and-activity-diagrams.md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DATA STRUCTURE FOR LLM · ชั้นที่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Metric Catalog — นิยามตัวชี้วัดให้ตรงกันก่อนเขียนโค้ด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9692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C8F"/>
                </a:solidFill>
                <a:latin typeface="IBM Plex Sans Thai"/>
              </a:rPr>
              <a:t>ถ้าคำว่า “รายได้” หรือ “อัตราการใช้งาน” ยังนิยามไม่ตรงกัน คำตอบของ AI จะเถียงกันเองตลอด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38528"/>
          <a:ext cx="11057837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32724"/>
                <a:gridCol w="3317351"/>
                <a:gridCol w="1769254"/>
                <a:gridCol w="3538508"/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ตัวชี้วัด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นิยาม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หน่วย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หมายเหตุ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revenue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ผลรวมมูลค่ารอบซักที่มีหลักฐานการชำระเงิน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สตางค์ (จำนวนเต็ม)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เก็บเป็น satang ตามโค้ดเดิม กันปัญหาทศนิยม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cycle_count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จำนวนรอบซักที่จบสมบูรณ์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รอบ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นับจาก MACHINE_CYCLE ที่มีสถานะจบ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utilization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เวลาที่เครื่องทำงาน หารด้วยเวลาที่เปิดให้บริการ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ร้อยละ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ต้องระบุเวลาทำการของสาขาให้ชัด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avg_cycle_minutes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ค่าเฉลี่ยระยะเวลาต่อรอบ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นาที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ใช้ดูความผิดปกติของเครื่อง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peak_hour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ช่วงชั่วโมงที่มีรอบซักหนาแน่นสูงสุด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ชั่วโมง 0–23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ฐานของข้อเสนอโปรโมชัน (Phase 2)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coinbox_estimate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ประมาณการเหรียญสะสมในกล่อง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สตางค์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รีเซ็ตจาก event coinbox_open ที่แมปไว้ชัดเจนเท่านั้น ห้ามเดาจาก door_status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773168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 w="12700">
            <a:solidFill>
              <a:srgbClr val="C4D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3B4A5A"/>
                </a:solidFill>
                <a:latin typeface="IBM Plex Sans Thai"/>
              </a:rPr>
              <a:t>กำหนดร่วมกันทุกตัวชี้วัด: เขตเวลา Asia/Bangkok · ขอบเขตช่วงเวลาแบบ [start, end) · ความละเอียด hour | day | month · และทุก query ต้องผูกกับ branch_id เสมอ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สอดคล้องกับ docs/03_data_contracts/data_contracts.md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DATA STRUCTURE FOR LLM · ชั้นที่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Pre-aggregated Rollup — สรุปไว้ล่วงหน้า ไม่ให้ LLM แตะข้อมูลดิบ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6B7C8F"/>
                </a:solidFill>
                <a:latin typeface="IBM Plex Sans Thai"/>
              </a:rPr>
              <a:t>ข้อมูลดิบระดับ event มีปริมาณมากเกินกว่าจะใส่ context และช้าเกินกว่าจะตอบสด จึงสรุปเป็นตารางระดับ ชั่วโมง × สาขา × เครื่อง ไว้ก่อน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95728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0F1720"/>
                </a:solidFill>
                <a:latin typeface="IBM Plex Sans Thai"/>
              </a:rPr>
              <a:t>เร็วและคงที่ — </a:t>
            </a:r>
            <a:r>
              <a:rPr sz="1100" b="0">
                <a:solidFill>
                  <a:srgbClr val="3B4A5A"/>
                </a:solidFill>
                <a:latin typeface="IBM Plex Sans Thai"/>
              </a:rPr>
              <a:t>คำถามเดิมได้ตัวเลขเดิมทุกครั้ง ทดสอบด้วย unit test 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072384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0F1720"/>
                </a:solidFill>
                <a:latin typeface="IBM Plex Sans Thai"/>
              </a:rPr>
              <a:t>เล็ก — </a:t>
            </a:r>
            <a:r>
              <a:rPr sz="1100" b="0">
                <a:solidFill>
                  <a:srgbClr val="3B4A5A"/>
                </a:solidFill>
                <a:latin typeface="IBM Plex Sans Thai"/>
              </a:rPr>
              <a:t>ส่งเข้า LLM เพียงหลักสิบแถว แทนข้อมูลดิบหลักแสน event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49040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0F1720"/>
                </a:solidFill>
                <a:latin typeface="IBM Plex Sans Thai"/>
              </a:rPr>
              <a:t>ปลอดภัย — </a:t>
            </a:r>
            <a:r>
              <a:rPr sz="1100" b="0">
                <a:solidFill>
                  <a:srgbClr val="3B4A5A"/>
                </a:solidFill>
                <a:latin typeface="IBM Plex Sans Thai"/>
              </a:rPr>
              <a:t>ชั้นสรุปไม่มีข้อมูลส่วนบุคคล ลดความเสี่ยงข้อมูลรั่ว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425696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0F1720"/>
                </a:solidFill>
                <a:latin typeface="IBM Plex Sans Thai"/>
              </a:rPr>
              <a:t>ต่อยอดง่าย — </a:t>
            </a:r>
            <a:r>
              <a:rPr sz="1100" b="0">
                <a:solidFill>
                  <a:srgbClr val="3B4A5A"/>
                </a:solidFill>
                <a:latin typeface="IBM Plex Sans Thai"/>
              </a:rPr>
              <a:t>รวมจากรายชั่วโมงเป็นรายวันหรือรายเดือนได้ทันที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157216"/>
            <a:ext cx="5120640" cy="749808"/>
          </a:xfrm>
          <a:prstGeom prst="roundRect">
            <a:avLst>
              <a:gd name="adj" fmla="val 6000"/>
            </a:avLst>
          </a:prstGeom>
          <a:solidFill>
            <a:srgbClr val="FDF1DE"/>
          </a:solidFill>
          <a:ln w="12700">
            <a:solidFill>
              <a:srgbClr val="F0C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แนบตัวชี้วัดคุณภาพข้อมูลไปกับทุกแถว เช่น สัดส่วนชั่วโมงที่ telemetry ขาดหาย เพื่อให้คำตอบบอกข้อจำกัดได้ตรงความจริง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481328"/>
            <a:ext cx="5479999" cy="4480560"/>
          </a:xfrm>
          <a:prstGeom prst="roundRect">
            <a:avLst>
              <a:gd name="adj" fmla="val 4500"/>
            </a:avLst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>
            <a:norm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7D8EA3"/>
                </a:solidFill>
                <a:latin typeface="Menlo"/>
              </a:rPr>
              <a:t>-- ตารางสรุปรายชั่วโมง (แนวคิด)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AB4F8"/>
                </a:solidFill>
                <a:latin typeface="Menlo"/>
              </a:rPr>
              <a:t>TABLE</a:t>
            </a:r>
            <a:r>
              <a:rPr sz="950" b="0">
                <a:solidFill>
                  <a:srgbClr val="E6EDF3"/>
                </a:solidFill>
                <a:latin typeface="Menlo"/>
              </a:rPr>
              <a:t> metric_rollup_hourly (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branch_id             </a:t>
            </a:r>
            <a:r>
              <a:rPr sz="950" b="0">
                <a:solidFill>
                  <a:srgbClr val="7D8EA3"/>
                </a:solidFill>
                <a:latin typeface="Menlo"/>
              </a:rPr>
              <a:t>-- บังคับ ใช้คุมขอบเขตสิทธิ์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machine_id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bucket_start          </a:t>
            </a:r>
            <a:r>
              <a:rPr sz="950" b="0">
                <a:solidFill>
                  <a:srgbClr val="7D8EA3"/>
                </a:solidFill>
                <a:latin typeface="Menlo"/>
              </a:rPr>
              <a:t>-- ต้นชั่วโมง Asia/Bangkok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cycle_count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revenue_satang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runtime_seconds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open_seconds          </a:t>
            </a:r>
            <a:r>
              <a:rPr sz="950" b="0">
                <a:solidFill>
                  <a:srgbClr val="7D8EA3"/>
                </a:solidFill>
                <a:latin typeface="Menlo"/>
              </a:rPr>
              <a:t>-- ใช้หาร utilization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telemetry_gap_seconds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AB4F8"/>
                </a:solidFill>
                <a:latin typeface="Menlo"/>
              </a:rPr>
              <a:t>  PRIMARY KEY</a:t>
            </a:r>
            <a:r>
              <a:rPr sz="950" b="0">
                <a:solidFill>
                  <a:srgbClr val="E6EDF3"/>
                </a:solidFill>
                <a:latin typeface="Menlo"/>
              </a:rPr>
              <a:t> (branch_id, machine_id, bucket_start)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7D8EA3"/>
                </a:solidFill>
                <a:latin typeface="Menlo"/>
              </a:rPr>
              <a:t>-- ตัวอย่างข้อมูลที่ LLM จะได้เห็น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{ </a:t>
            </a:r>
            <a:r>
              <a:rPr sz="950" b="0">
                <a:solidFill>
                  <a:srgbClr val="A5D6A7"/>
                </a:solidFill>
                <a:latin typeface="Menlo"/>
              </a:rPr>
              <a:t>"branch_id"</a:t>
            </a:r>
            <a:r>
              <a:rPr sz="950" b="0">
                <a:solidFill>
                  <a:srgbClr val="E6EDF3"/>
                </a:solidFill>
                <a:latin typeface="Menlo"/>
              </a:rPr>
              <a:t>: </a:t>
            </a:r>
            <a:r>
              <a:rPr sz="950" b="0">
                <a:solidFill>
                  <a:srgbClr val="A5D6A7"/>
                </a:solidFill>
                <a:latin typeface="Menlo"/>
              </a:rPr>
              <a:t>"BKK-SILOM"</a:t>
            </a:r>
            <a:r>
              <a:rPr sz="950" b="0">
                <a:solidFill>
                  <a:srgbClr val="E6EDF3"/>
                </a:solidFill>
                <a:latin typeface="Menlo"/>
              </a:rPr>
              <a:t>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</a:t>
            </a:r>
            <a:r>
              <a:rPr sz="950" b="0">
                <a:solidFill>
                  <a:srgbClr val="A5D6A7"/>
                </a:solidFill>
                <a:latin typeface="Menlo"/>
              </a:rPr>
              <a:t>"bucket_start"</a:t>
            </a:r>
            <a:r>
              <a:rPr sz="950" b="0">
                <a:solidFill>
                  <a:srgbClr val="E6EDF3"/>
                </a:solidFill>
                <a:latin typeface="Menlo"/>
              </a:rPr>
              <a:t>: </a:t>
            </a:r>
            <a:r>
              <a:rPr sz="950" b="0">
                <a:solidFill>
                  <a:srgbClr val="A5D6A7"/>
                </a:solidFill>
                <a:latin typeface="Menlo"/>
              </a:rPr>
              <a:t>"2026-07-01T18:00+07:00"</a:t>
            </a:r>
            <a:r>
              <a:rPr sz="950" b="0">
                <a:solidFill>
                  <a:srgbClr val="E6EDF3"/>
                </a:solidFill>
                <a:latin typeface="Menlo"/>
              </a:rPr>
              <a:t>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</a:t>
            </a:r>
            <a:r>
              <a:rPr sz="950" b="0">
                <a:solidFill>
                  <a:srgbClr val="A5D6A7"/>
                </a:solidFill>
                <a:latin typeface="Menlo"/>
              </a:rPr>
              <a:t>"cycle_count"</a:t>
            </a:r>
            <a:r>
              <a:rPr sz="950" b="0">
                <a:solidFill>
                  <a:srgbClr val="E6EDF3"/>
                </a:solidFill>
                <a:latin typeface="Menlo"/>
              </a:rPr>
              <a:t>: 14,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</a:t>
            </a:r>
            <a:r>
              <a:rPr sz="950" b="0">
                <a:solidFill>
                  <a:srgbClr val="A5D6A7"/>
                </a:solidFill>
                <a:latin typeface="Menlo"/>
              </a:rPr>
              <a:t>"revenue_satang"</a:t>
            </a:r>
            <a:r>
              <a:rPr sz="950" b="0">
                <a:solidFill>
                  <a:srgbClr val="E6EDF3"/>
                </a:solidFill>
                <a:latin typeface="Menlo"/>
              </a:rPr>
              <a:t>: 84000,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</a:t>
            </a:r>
            <a:r>
              <a:rPr sz="950" b="0">
                <a:solidFill>
                  <a:srgbClr val="A5D6A7"/>
                </a:solidFill>
                <a:latin typeface="Menlo"/>
              </a:rPr>
              <a:t>"utilization_pct"</a:t>
            </a:r>
            <a:r>
              <a:rPr sz="950" b="0">
                <a:solidFill>
                  <a:srgbClr val="E6EDF3"/>
                </a:solidFill>
                <a:latin typeface="Menlo"/>
              </a:rPr>
              <a:t>: 62.5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ชั้นนี้คือภาษากลางระหว่างฐานข้อมูลกับ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DATA STRUCTURE FOR LLM · ชั้นที่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Allow-listed Tools — LLM เลือกได้เฉพาะเครื่องมือที่เราสร้างไว้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9692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C8F"/>
                </a:solidFill>
                <a:latin typeface="IBM Plex Sans Thai"/>
              </a:rPr>
              <a:t>LLM ไม่ได้รับสิทธิ์เขียน SQL แต่ได้รับเมนูฟังก์ชันที่ผ่านการทดสอบแล้วเท่านั้น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38528"/>
          <a:ext cx="5486400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04288"/>
                <a:gridCol w="3182112"/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Tool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ใช้ตอบคำถามแบบไหน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get_revenue_summary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รายได้รวมหรือแยกสาขา ในช่วงเวลาหนึ่ง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compare_period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เทียบเดือนต่อเดือน (MoM) ตามตัวอย่างใน R08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get_utilization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อัตราการใช้งานเครื่อง คุ้มค่าหรือไม่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get_cycle_stats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จำนวนรอบ เวลาเฉลี่ย และความผิดปกติ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F1720"/>
                          </a:solidFill>
                          <a:latin typeface="Menlo"/>
                        </a:rPr>
                        <a:t>get_peak_hours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ช่วงพีคและช่วงว่าง ฐานของ Phase 2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224528"/>
            <a:ext cx="5486400" cy="6583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คำถามที่ไม่มี tool รองรับ ระบบตอบว่า “ยังไม่รองรับ” ซึ่งดีกว่าเดาแล้วผิด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10528" y="1938528"/>
            <a:ext cx="5114239" cy="2212848"/>
          </a:xfrm>
          <a:prstGeom prst="roundRect">
            <a:avLst>
              <a:gd name="adj" fmla="val 4500"/>
            </a:avLst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>
            <a:norm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7D8EA3"/>
                </a:solidFill>
                <a:latin typeface="Menlo"/>
              </a:rPr>
              <a:t>// นิยาม argument แบบเข้มงวด (zod / JSON Schema)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get_revenue_summary({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branch_ids:  </a:t>
            </a:r>
            <a:r>
              <a:rPr sz="950" b="0">
                <a:solidFill>
                  <a:srgbClr val="8AB4F8"/>
                </a:solidFill>
                <a:latin typeface="Menlo"/>
              </a:rPr>
              <a:t>string[]</a:t>
            </a:r>
            <a:r>
              <a:rPr sz="950" b="0">
                <a:solidFill>
                  <a:srgbClr val="E6EDF3"/>
                </a:solidFill>
                <a:latin typeface="Menlo"/>
              </a:rPr>
              <a:t>   </a:t>
            </a:r>
            <a:r>
              <a:rPr sz="950" b="0">
                <a:solidFill>
                  <a:srgbClr val="7D8EA3"/>
                </a:solidFill>
                <a:latin typeface="Menlo"/>
              </a:rPr>
              <a:t>// ต้องเป็นสับเซตของสิทธิ์ผู้ใช้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period:      { start, end }  </a:t>
            </a:r>
            <a:r>
              <a:rPr sz="950" b="0">
                <a:solidFill>
                  <a:srgbClr val="7D8EA3"/>
                </a:solidFill>
                <a:latin typeface="Menlo"/>
              </a:rPr>
              <a:t>// ISO, [start, end)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granularity: </a:t>
            </a:r>
            <a:r>
              <a:rPr sz="950" b="0">
                <a:solidFill>
                  <a:srgbClr val="A5D6A7"/>
                </a:solidFill>
                <a:latin typeface="Menlo"/>
              </a:rPr>
              <a:t>"day"</a:t>
            </a:r>
            <a:r>
              <a:rPr sz="950" b="0">
                <a:solidFill>
                  <a:srgbClr val="E6EDF3"/>
                </a:solidFill>
                <a:latin typeface="Menlo"/>
              </a:rPr>
              <a:t> | </a:t>
            </a:r>
            <a:r>
              <a:rPr sz="950" b="0">
                <a:solidFill>
                  <a:srgbClr val="A5D6A7"/>
                </a:solidFill>
                <a:latin typeface="Menlo"/>
              </a:rPr>
              <a:t>"month"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compare_to:  { start, end } | </a:t>
            </a:r>
            <a:r>
              <a:rPr sz="950" b="0">
                <a:solidFill>
                  <a:srgbClr val="8AB4F8"/>
                </a:solidFill>
                <a:latin typeface="Menlo"/>
              </a:rPr>
              <a:t>null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0528" y="4279392"/>
            <a:ext cx="5114239" cy="1783080"/>
          </a:xfrm>
          <a:prstGeom prst="roundRect">
            <a:avLst>
              <a:gd name="adj" fmla="val 4500"/>
            </a:avLst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>
            <a:norm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7D8EA3"/>
                </a:solidFill>
                <a:latin typeface="Menlo"/>
              </a:rPr>
              <a:t>// ลำดับการตรวจฝั่ง backend (ไม่เชื่อ LLM)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AB4F8"/>
                </a:solidFill>
                <a:latin typeface="Menlo"/>
              </a:rPr>
              <a:t>1.</a:t>
            </a:r>
            <a:r>
              <a:rPr sz="950" b="0">
                <a:solidFill>
                  <a:srgbClr val="E6EDF3"/>
                </a:solidFill>
                <a:latin typeface="Menlo"/>
              </a:rPr>
              <a:t> parse ด้วย schema — ผิดรูปคือปฏิเสธ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AB4F8"/>
                </a:solidFill>
                <a:latin typeface="Menlo"/>
              </a:rPr>
              <a:t>2.</a:t>
            </a:r>
            <a:r>
              <a:rPr sz="950" b="0">
                <a:solidFill>
                  <a:srgbClr val="E6EDF3"/>
                </a:solidFill>
                <a:latin typeface="Menlo"/>
              </a:rPr>
              <a:t> branch_ids ตัดกับสิทธิ์ผู้ใช้ = ขอบเขตจริง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AB4F8"/>
                </a:solidFill>
                <a:latin typeface="Menlo"/>
              </a:rPr>
              <a:t>3.</a:t>
            </a:r>
            <a:r>
              <a:rPr sz="950" b="0">
                <a:solidFill>
                  <a:srgbClr val="E6EDF3"/>
                </a:solidFill>
                <a:latin typeface="Menlo"/>
              </a:rPr>
              <a:t> ถ้าเซตว่าง = ปฏิเสธ พร้อมบันทึก audit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AB4F8"/>
                </a:solidFill>
                <a:latin typeface="Menlo"/>
              </a:rPr>
              <a:t>4.</a:t>
            </a:r>
            <a:r>
              <a:rPr sz="950" b="0">
                <a:solidFill>
                  <a:srgbClr val="E6EDF3"/>
                </a:solidFill>
                <a:latin typeface="Menlo"/>
              </a:rPr>
              <a:t> จำกัดความยาวช่วงเวลาและจำนวนแถว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AB4F8"/>
                </a:solidFill>
                <a:latin typeface="Menlo"/>
              </a:rPr>
              <a:t>5.</a:t>
            </a:r>
            <a:r>
              <a:rPr sz="950" b="0">
                <a:solidFill>
                  <a:srgbClr val="E6EDF3"/>
                </a:solidFill>
                <a:latin typeface="Menlo"/>
              </a:rPr>
              <a:t> query แบบ parameterized เท่านั้น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001768"/>
            <a:ext cx="11057839" cy="658368"/>
          </a:xfrm>
          <a:prstGeom prst="roundRect">
            <a:avLst>
              <a:gd name="adj" fmla="val 6000"/>
            </a:avLst>
          </a:prstGeom>
          <a:solidFill>
            <a:srgbClr val="FDECEB"/>
          </a:solidFill>
          <a:ln w="12700">
            <a:solidFill>
              <a:srgbClr val="F3B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1">
                <a:solidFill>
                  <a:srgbClr val="B42318"/>
                </a:solidFill>
                <a:latin typeface="IBM Plex Sans Thai"/>
              </a:rPr>
              <a:t>กติกาเหล็ก: </a:t>
            </a:r>
            <a:r>
              <a:rPr sz="1150" b="0">
                <a:solidFill>
                  <a:srgbClr val="3B4A5A"/>
                </a:solidFill>
                <a:latin typeface="IBM Plex Sans Thai"/>
              </a:rPr>
              <a:t>ต่อให้ LLM ขอสาขาที่ไม่มีสิทธิ์ backend จะตัดออกเสมอ Manager จึงดึงข้อมูลข้ามสาขาไม่ได้ ตามตัวอย่างใน R08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ตรงกับ F-11 และ US-05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DATA STRUCTURE FOR LLM · ชั้นที่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Result Envelope — รูปแบบผลลัพธ์เดียว ที่บังคับให้คำตอบมีที่มา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5623560" cy="4160520"/>
          </a:xfrm>
          <a:prstGeom prst="roundRect">
            <a:avLst>
              <a:gd name="adj" fmla="val 4500"/>
            </a:avLst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28016">
            <a:norm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{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"scope"</a:t>
            </a:r>
            <a:r>
              <a:rPr sz="950" b="0">
                <a:solidFill>
                  <a:srgbClr val="E6EDF3"/>
                </a:solidFill>
                <a:latin typeface="Menlo"/>
              </a:rPr>
              <a:t>:    { </a:t>
            </a:r>
            <a:r>
              <a:rPr sz="950" b="0">
                <a:solidFill>
                  <a:srgbClr val="A5D6A7"/>
                </a:solidFill>
                <a:latin typeface="Menlo"/>
              </a:rPr>
              <a:t>"branch_ids"</a:t>
            </a:r>
            <a:r>
              <a:rPr sz="950" b="0">
                <a:solidFill>
                  <a:srgbClr val="E6EDF3"/>
                </a:solidFill>
                <a:latin typeface="Menlo"/>
              </a:rPr>
              <a:t>: [</a:t>
            </a:r>
            <a:r>
              <a:rPr sz="950" b="0">
                <a:solidFill>
                  <a:srgbClr val="A5D6A7"/>
                </a:solidFill>
                <a:latin typeface="Menlo"/>
              </a:rPr>
              <a:t>"BKK-SILOM"</a:t>
            </a:r>
            <a:r>
              <a:rPr sz="950" b="0">
                <a:solidFill>
                  <a:srgbClr val="E6EDF3"/>
                </a:solidFill>
                <a:latin typeface="Menlo"/>
              </a:rPr>
              <a:t>],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              </a:t>
            </a:r>
            <a:r>
              <a:rPr sz="950" b="0">
                <a:solidFill>
                  <a:srgbClr val="A5D6A7"/>
                </a:solidFill>
                <a:latin typeface="Menlo"/>
              </a:rPr>
              <a:t>"granted_by"</a:t>
            </a:r>
            <a:r>
              <a:rPr sz="950" b="0">
                <a:solidFill>
                  <a:srgbClr val="E6EDF3"/>
                </a:solidFill>
                <a:latin typeface="Menlo"/>
              </a:rPr>
              <a:t>: </a:t>
            </a:r>
            <a:r>
              <a:rPr sz="950" b="0">
                <a:solidFill>
                  <a:srgbClr val="A5D6A7"/>
                </a:solidFill>
                <a:latin typeface="Menlo"/>
              </a:rPr>
              <a:t>"role:owner"</a:t>
            </a:r>
            <a:r>
              <a:rPr sz="950" b="0">
                <a:solidFill>
                  <a:srgbClr val="E6EDF3"/>
                </a:solidFill>
                <a:latin typeface="Menlo"/>
              </a:rPr>
              <a:t> },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"period"</a:t>
            </a:r>
            <a:r>
              <a:rPr sz="950" b="0">
                <a:solidFill>
                  <a:srgbClr val="E6EDF3"/>
                </a:solidFill>
                <a:latin typeface="Menlo"/>
              </a:rPr>
              <a:t>:   { </a:t>
            </a:r>
            <a:r>
              <a:rPr sz="950" b="0">
                <a:solidFill>
                  <a:srgbClr val="A5D6A7"/>
                </a:solidFill>
                <a:latin typeface="Menlo"/>
              </a:rPr>
              <a:t>"start"</a:t>
            </a:r>
            <a:r>
              <a:rPr sz="950" b="0">
                <a:solidFill>
                  <a:srgbClr val="E6EDF3"/>
                </a:solidFill>
                <a:latin typeface="Menlo"/>
              </a:rPr>
              <a:t>: </a:t>
            </a:r>
            <a:r>
              <a:rPr sz="950" b="0">
                <a:solidFill>
                  <a:srgbClr val="A5D6A7"/>
                </a:solidFill>
                <a:latin typeface="Menlo"/>
              </a:rPr>
              <a:t>"2026-07-01T00:00+07:00"</a:t>
            </a:r>
            <a:r>
              <a:rPr sz="950" b="0">
                <a:solidFill>
                  <a:srgbClr val="E6EDF3"/>
                </a:solidFill>
                <a:latin typeface="Menlo"/>
              </a:rPr>
              <a:t>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              </a:t>
            </a:r>
            <a:r>
              <a:rPr sz="950" b="0">
                <a:solidFill>
                  <a:srgbClr val="A5D6A7"/>
                </a:solidFill>
                <a:latin typeface="Menlo"/>
              </a:rPr>
              <a:t>"end"</a:t>
            </a:r>
            <a:r>
              <a:rPr sz="950" b="0">
                <a:solidFill>
                  <a:srgbClr val="E6EDF3"/>
                </a:solidFill>
                <a:latin typeface="Menlo"/>
              </a:rPr>
              <a:t>:   </a:t>
            </a:r>
            <a:r>
              <a:rPr sz="950" b="0">
                <a:solidFill>
                  <a:srgbClr val="A5D6A7"/>
                </a:solidFill>
                <a:latin typeface="Menlo"/>
              </a:rPr>
              <a:t>"2026-08-01T00:00+07:00"</a:t>
            </a:r>
            <a:r>
              <a:rPr sz="950" b="0">
                <a:solidFill>
                  <a:srgbClr val="E6EDF3"/>
                </a:solidFill>
                <a:latin typeface="Menlo"/>
              </a:rPr>
              <a:t> },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"metric"</a:t>
            </a:r>
            <a:r>
              <a:rPr sz="950" b="0">
                <a:solidFill>
                  <a:srgbClr val="E6EDF3"/>
                </a:solidFill>
                <a:latin typeface="Menlo"/>
              </a:rPr>
              <a:t>:   </a:t>
            </a:r>
            <a:r>
              <a:rPr sz="950" b="0">
                <a:solidFill>
                  <a:srgbClr val="A5D6A7"/>
                </a:solidFill>
                <a:latin typeface="Menlo"/>
              </a:rPr>
              <a:t>"revenue"</a:t>
            </a:r>
            <a:r>
              <a:rPr sz="950" b="0">
                <a:solidFill>
                  <a:srgbClr val="E6EDF3"/>
                </a:solidFill>
                <a:latin typeface="Menlo"/>
              </a:rPr>
              <a:t>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"unit"</a:t>
            </a:r>
            <a:r>
              <a:rPr sz="950" b="0">
                <a:solidFill>
                  <a:srgbClr val="E6EDF3"/>
                </a:solidFill>
                <a:latin typeface="Menlo"/>
              </a:rPr>
              <a:t>:     </a:t>
            </a:r>
            <a:r>
              <a:rPr sz="950" b="0">
                <a:solidFill>
                  <a:srgbClr val="A5D6A7"/>
                </a:solidFill>
                <a:latin typeface="Menlo"/>
              </a:rPr>
              <a:t>"satang"</a:t>
            </a:r>
            <a:r>
              <a:rPr sz="950" b="0">
                <a:solidFill>
                  <a:srgbClr val="E6EDF3"/>
                </a:solidFill>
                <a:latin typeface="Menlo"/>
              </a:rPr>
              <a:t>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"rows"</a:t>
            </a:r>
            <a:r>
              <a:rPr sz="950" b="0">
                <a:solidFill>
                  <a:srgbClr val="E6EDF3"/>
                </a:solidFill>
                <a:latin typeface="Menlo"/>
              </a:rPr>
              <a:t>:     [ ... ],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"row_count"</a:t>
            </a:r>
            <a:r>
              <a:rPr sz="950" b="0">
                <a:solidFill>
                  <a:srgbClr val="E6EDF3"/>
                </a:solidFill>
                <a:latin typeface="Menlo"/>
              </a:rPr>
              <a:t>: 31,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"coverage"</a:t>
            </a:r>
            <a:r>
              <a:rPr sz="950" b="0">
                <a:solidFill>
                  <a:srgbClr val="E6EDF3"/>
                </a:solidFill>
                <a:latin typeface="Menlo"/>
              </a:rPr>
              <a:t>: { </a:t>
            </a:r>
            <a:r>
              <a:rPr sz="950" b="0">
                <a:solidFill>
                  <a:srgbClr val="A5D6A7"/>
                </a:solidFill>
                <a:latin typeface="Menlo"/>
              </a:rPr>
              <a:t>"expected_hours"</a:t>
            </a:r>
            <a:r>
              <a:rPr sz="950" b="0">
                <a:solidFill>
                  <a:srgbClr val="E6EDF3"/>
                </a:solidFill>
                <a:latin typeface="Menlo"/>
              </a:rPr>
              <a:t>: 744,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                </a:t>
            </a:r>
            <a:r>
              <a:rPr sz="950" b="0">
                <a:solidFill>
                  <a:srgbClr val="A5D6A7"/>
                </a:solidFill>
                <a:latin typeface="Menlo"/>
              </a:rPr>
              <a:t>"observed_hours"</a:t>
            </a:r>
            <a:r>
              <a:rPr sz="950" b="0">
                <a:solidFill>
                  <a:srgbClr val="E6EDF3"/>
                </a:solidFill>
                <a:latin typeface="Menlo"/>
              </a:rPr>
              <a:t>: 731 },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"caveats"</a:t>
            </a:r>
            <a:r>
              <a:rPr sz="950" b="0">
                <a:solidFill>
                  <a:srgbClr val="E6EDF3"/>
                </a:solidFill>
                <a:latin typeface="Menlo"/>
              </a:rPr>
              <a:t>:  [</a:t>
            </a:r>
            <a:r>
              <a:rPr sz="950" b="0">
                <a:solidFill>
                  <a:srgbClr val="A5D6A7"/>
                </a:solidFill>
                <a:latin typeface="Menlo"/>
              </a:rPr>
              <a:t>"telemetry ขาดหาย 13 ชั่วโมง"</a:t>
            </a:r>
            <a:r>
              <a:rPr sz="950" b="0">
                <a:solidFill>
                  <a:srgbClr val="E6EDF3"/>
                </a:solidFill>
                <a:latin typeface="Menlo"/>
              </a:rPr>
              <a:t>],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"source"</a:t>
            </a:r>
            <a:r>
              <a:rPr sz="950" b="0">
                <a:solidFill>
                  <a:srgbClr val="E6EDF3"/>
                </a:solidFill>
                <a:latin typeface="Menlo"/>
              </a:rPr>
              <a:t>:   </a:t>
            </a:r>
            <a:r>
              <a:rPr sz="950" b="0">
                <a:solidFill>
                  <a:srgbClr val="A5D6A7"/>
                </a:solidFill>
                <a:latin typeface="Menlo"/>
              </a:rPr>
              <a:t>"metric_rollup_hourly"</a:t>
            </a:r>
            <a:r>
              <a:rPr sz="950" b="0">
                <a:solidFill>
                  <a:srgbClr val="E6EDF3"/>
                </a:solidFill>
                <a:latin typeface="Menlo"/>
              </a:rPr>
              <a:t>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"generated_at"</a:t>
            </a:r>
            <a:r>
              <a:rPr sz="950" b="0">
                <a:solidFill>
                  <a:srgbClr val="E6EDF3"/>
                </a:solidFill>
                <a:latin typeface="Menlo"/>
              </a:rPr>
              <a:t>: </a:t>
            </a:r>
            <a:r>
              <a:rPr sz="950" b="0">
                <a:solidFill>
                  <a:srgbClr val="A5D6A7"/>
                </a:solidFill>
                <a:latin typeface="Menlo"/>
              </a:rPr>
              <a:t>"2026-07-31T09:12+07:00"</a:t>
            </a:r>
            <a:r>
              <a:rPr sz="950" b="0">
                <a:solidFill>
                  <a:srgbClr val="E6EDF3"/>
                </a:solidFill>
                <a:latin typeface="Menlo"/>
              </a:rPr>
              <a:t>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A5D6A7"/>
                </a:solidFill>
                <a:latin typeface="Menlo"/>
              </a:rPr>
              <a:t>  "result_ref"</a:t>
            </a:r>
            <a:r>
              <a:rPr sz="950" b="0">
                <a:solidFill>
                  <a:srgbClr val="E6EDF3"/>
                </a:solidFill>
                <a:latin typeface="Menlo"/>
              </a:rPr>
              <a:t>:   </a:t>
            </a:r>
            <a:r>
              <a:rPr sz="950" b="0">
                <a:solidFill>
                  <a:srgbClr val="A5D6A7"/>
                </a:solidFill>
                <a:latin typeface="Menlo"/>
              </a:rPr>
              <a:t>"res_01J..."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1968" y="1481328"/>
            <a:ext cx="502279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0F1720"/>
                </a:solidFill>
                <a:latin typeface="IBM Plex Sans Thai"/>
              </a:rPr>
              <a:t>ทำไมต้องมี unit และ period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บังคับให้คำตอบระบุหน่วยและช่วงเวลาเสมอ ผู้บริหารจึงไม่ตีความผิด และตรงตามเกณฑ์ยอมรับของ R08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1968" y="2542032"/>
            <a:ext cx="502279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0F1720"/>
                </a:solidFill>
                <a:latin typeface="IBM Plex Sans Thai"/>
              </a:rPr>
              <a:t>ทำไมต้องมี coverage และ caveats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ข้อมูล IoT มีช่วงขาดหายจริง ระบบต้องบอกตรง ๆ ว่าตัวเลขครอบคลุมแค่ไหน แทนที่จะทำเป็นว่าสมบูรณ์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1968" y="3602736"/>
            <a:ext cx="502279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0F1720"/>
                </a:solidFill>
                <a:latin typeface="IBM Plex Sans Thai"/>
              </a:rPr>
              <a:t>ทำไมต้องมี result_ref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เป็นหมายเลขอ้างอิงผลลัพธ์ที่บันทึกใน audit log ย้อนกลับไปตรวจได้ว่าคำตอบวันนั้นมาจากตัวเลขชุดใด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1968" y="4663440"/>
            <a:ext cx="5022799" cy="969264"/>
          </a:xfrm>
          <a:prstGeom prst="roundRect">
            <a:avLst>
              <a:gd name="adj" fmla="val 6000"/>
            </a:avLst>
          </a:prstGeom>
          <a:solidFill>
            <a:srgbClr val="E3F4EC"/>
          </a:solidFill>
          <a:ln w="12700">
            <a:solidFill>
              <a:srgbClr val="B7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0F7B52"/>
                </a:solidFill>
                <a:latin typeface="IBM Plex Sans Thai"/>
              </a:rPr>
              <a:t>คำสั่งควบคุม LLM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“ตอบจากผลลัพธ์ของ tool เท่านั้น ห้ามประมาณเอง ถ้าข้อมูลไม่พอให้บอกว่าไม่พอ และต้องระบุช่วงเวลา ตัวชี้วัด และข้อจำกัดทุกครั้ง”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Envelope เดียวกันนี้ใช้กับทุก tool เพื่อให้ทดสอบและตรวจสอบง่าย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ความปลอดภัยและการตรวจสอบ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สามเสาที่ทำให้ตรวจสอบย้อนกลับได้ทุกคำตอบ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3621024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RBAC + Branch Scope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สิทธิ์ถูกตัดสินจาก session ฝั่ง server ไม่ใช่จากสิ่งที่ LLM ขอ ทุก query ผูกกับ branch_id ที่ตัดกับสิทธิ์จริงแล้ว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5727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6BCB"/>
                </a:solidFill>
                <a:latin typeface="IBM Plex Sans Thai"/>
              </a:rPr>
              <a:t>เสา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481328"/>
            <a:ext cx="3621024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Append-only Audit Log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บันทึก actor, prompt ที่ sanitize, ชื่อ tool, arguments, ขอบเขต, result_ref, outcome และเวลา แก้ย้อนหลังไม่ได้ ตาม F-07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14616" y="15727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6BCB"/>
                </a:solidFill>
                <a:latin typeface="IBM Plex Sans Thai"/>
              </a:rPr>
              <a:t>เสา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81328"/>
            <a:ext cx="3621024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F1720"/>
                </a:solidFill>
                <a:latin typeface="IBM Plex Sans Thai"/>
              </a:rPr>
              <a:t>Golden-question Eval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ชุดคำถามมาตรฐานพร้อมคำตอบที่รู้ค่าจริง ใช้รันอัตโนมัติเพื่อจับ regression และการหลอนตัวเลข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54512" y="15727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6BCB"/>
                </a:solidFill>
                <a:latin typeface="IBM Plex Sans Thai"/>
              </a:rPr>
              <a:t>เสา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3200400"/>
          <a:ext cx="11057838" cy="17922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1978"/>
                <a:gridCol w="6855860"/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สถานการณ์ทดสอบ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ผลลัพธ์ที่ระบบต้องทำ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Manager ถามข้อมูลสาขาที่ไม่ได้ดูแล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ปฏิเสธ ไม่คืนตัวเลขใด ๆ และบันทึก audit ว่าถูกปฏิเสธเพราะขอบเขตสาขา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ถามเรื่องที่ยังไม่มี tool รองรับ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ตอบว่ายังไม่รองรับ ไม่พยายามเดาคำตอบ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ช่วงเวลาที่ถามมี telemetry ขาดหายมาก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ตอบพร้อมระบุความครอบคลุมและข้อจำกัด หรือแจ้งว่าข้อมูลไม่พอ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ถามคำถามเดิมซ้ำสองครั้ง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ได้ตัวเลขเดิม เพราะตัวเลขมาจากฟังก์ชัน ไม่ใช่จากการสร้างข้อความ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ชุดหลักฐานสำหรับการสาธิตหน้าชั้น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แผนดำเนินงาน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ลำดับงานและสิ่งส่งมอบ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9692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7C8F"/>
                </a:solidFill>
                <a:latin typeface="IBM Plex Sans Thai"/>
              </a:rPr>
              <a:t>เรียงจากชั้นล่างขึ้นบน — ชั้นข้อมูลต้องนิ่งก่อน จึงต่อ LLM ทีหลัง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38528"/>
          <a:ext cx="11057837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4627"/>
                <a:gridCol w="3317351"/>
                <a:gridCol w="3759665"/>
                <a:gridCol w="3096194"/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ลำดับ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งาน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สิ่งส่งมอบ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6B7C8F"/>
                          </a:solidFill>
                          <a:latin typeface="IBM Plex Sans Thai"/>
                        </a:rPr>
                        <a:t>ตรวจรับด้วย</a:t>
                      </a:r>
                    </a:p>
                  </a:txBody>
                  <a:tcPr marL="100584" marR="100584" marT="45720" marB="45720" anchor="ctr"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6BCB"/>
                          </a:solidFill>
                          <a:latin typeface="IBM Plex Sans Thai"/>
                        </a:rPr>
                        <a:t>1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สรุป Metric Catalog และเขตเวลา หน่วย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เอกสารนิยามตัวชี้วัดใน docs/03_data_contracts/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ทีมเห็นตรงกันทุกนิยาม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6BCB"/>
                          </a:solidFill>
                          <a:latin typeface="IBM Plex Sans Thai"/>
                        </a:rPr>
                        <a:t>2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สร้างชั้น Rollup รายชั่วโมง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ตารางสรุป งานสรุปข้อมูล และ unit test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ตัวเลขตรงกับการนับจากข้อมูลดิบ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6BCB"/>
                          </a:solidFill>
                          <a:latin typeface="IBM Plex Sans Thai"/>
                        </a:rPr>
                        <a:t>3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เขียน Analytics Functions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ฟังก์ชัน 5 ตัว คืนค่าเป็น envelope มาตรฐาน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มี test ครบทุกฟังก์ชัน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6BCB"/>
                          </a:solidFill>
                          <a:latin typeface="IBM Plex Sans Thai"/>
                        </a:rPr>
                        <a:t>4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บังคับ RBAC และ branch scope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ชั้นตรวจสิทธิ์ก่อนทุก query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เคส Manager ข้ามสาขาต้องถูกปฏิเสธ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6BCB"/>
                          </a:solidFill>
                          <a:latin typeface="IBM Plex Sans Thai"/>
                        </a:rPr>
                        <a:t>5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ต่อ LLM ด้วย tool schema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Orchestrator, allow-list และ system prompt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ไม่มีเส้นทางใดที่ LLM ส่ง SQL ได้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6BCB"/>
                          </a:solidFill>
                          <a:latin typeface="IBM Plex Sans Thai"/>
                        </a:rPr>
                        <a:t>6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Audit log และหน้าใช้งาน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บันทึกครบถ้วน และ UI ถาม-ตอบ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เปิด log ย้อนดูได้ทุกคำถาม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B6BCB"/>
                          </a:solidFill>
                          <a:latin typeface="IBM Plex Sans Thai"/>
                        </a:rPr>
                        <a:t>7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ชุดทดสอบ Golden question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ชุดคำถามและคำตอบมาตรฐาน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3B4A5A"/>
                          </a:solidFill>
                          <a:latin typeface="IBM Plex Sans Thai"/>
                        </a:rPr>
                        <a:t>รันผ่านทั้งชุด</a:t>
                      </a:r>
                    </a:p>
                  </a:txBody>
                  <a:tcPr marL="100584" marR="100584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956048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 w="12700">
            <a:solidFill>
              <a:srgbClr val="C4D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0B6BCB"/>
                </a:solidFill>
                <a:latin typeface="IBM Plex Sans Thai"/>
              </a:rPr>
              <a:t>ขอบเขต MVP ที่จะส่ง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R08 · F-11 · F-07 · US-05 — ถามรายได้ รอบซัก อัตราการใช้งาน และเทียบเดือนต่อเดือน ภายในสาขาที่มีสิทธิ์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4956048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EFEAF9"/>
          </a:solidFill>
          <a:ln w="12700">
            <a:solidFill>
              <a:srgbClr val="D8C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6B4EA8"/>
                </a:solidFill>
                <a:latin typeface="IBM Plex Sans Thai"/>
              </a:rPr>
              <a:t>ต่อยอด Phase 2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50" b="0">
                <a:solidFill>
                  <a:srgbClr val="3B4A5A"/>
                </a:solidFill>
                <a:latin typeface="IBM Plex Sans Thai"/>
              </a:rPr>
              <a:t>R09 ข้อเสนอช่วงโปรโมชันจากชั่วโมงว่าง และ F-12 บริบทสภาพอากาศ ระบุเป็นความสัมพันธ์ ไม่ใช่การพยากรณ์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96728" y="5065776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2D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4EA8"/>
                </a:solidFill>
                <a:latin typeface="IBM Plex Sans Thai"/>
              </a:rPr>
              <a:t>ยังไม่ทำตอนนี้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ทุกแถวผูกกับรหัสข้อกำหนดใน docs/04_traceability/RTM_matrix.md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6BCB"/>
                </a:solidFill>
                <a:latin typeface="IBM Plex Sans Thai"/>
              </a:rPr>
              <a:t>สรุป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F1720"/>
                </a:solidFill>
                <a:latin typeface="IBM Plex Sans Thai"/>
              </a:rPr>
              <a:t>ข้อความที่อยากให้จำ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3621024" cy="2148840"/>
          </a:xfrm>
          <a:prstGeom prst="roundRect">
            <a:avLst>
              <a:gd name="adj" fmla="val 6000"/>
            </a:avLst>
          </a:prstGeom>
          <a:solidFill>
            <a:srgbClr val="E3F4EC"/>
          </a:solidFill>
          <a:ln w="12700">
            <a:solidFill>
              <a:srgbClr val="B7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201168" bIns="109728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F7B52"/>
                </a:solidFill>
                <a:latin typeface="IBM Plex Sans Thai"/>
              </a:rPr>
              <a:t>1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0F1720"/>
                </a:solidFill>
                <a:latin typeface="IBM Plex Sans Thai"/>
              </a:rPr>
              <a:t>LLM ไม่แตะข้อมูลดิบ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ทำหน้าที่แปลคำถามและเรียบเรียงคำตอบ ตัวเลขทั้งหมดมาจากฟังก์ชันที่ทดสอบแล้ว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6824" y="1481328"/>
            <a:ext cx="3621024" cy="2148840"/>
          </a:xfrm>
          <a:prstGeom prst="roundRect">
            <a:avLst>
              <a:gd name="adj" fmla="val 6000"/>
            </a:avLst>
          </a:prstGeom>
          <a:solidFill>
            <a:srgbClr val="E3F4EC"/>
          </a:solidFill>
          <a:ln w="12700">
            <a:solidFill>
              <a:srgbClr val="B7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201168" bIns="109728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F7B52"/>
                </a:solidFill>
                <a:latin typeface="IBM Plex Sans Thai"/>
              </a:rPr>
              <a:t>2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0F1720"/>
                </a:solidFill>
                <a:latin typeface="IBM Plex Sans Thai"/>
              </a:rPr>
              <a:t>สิทธิ์ตัดสินที่ server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ขอบเขตสาขาถูกบังคับก่อน query เสมอ คำขอที่เกินสิทธิ์ถูกตัดทิ้งและบันทึกไว้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81328"/>
            <a:ext cx="3621024" cy="2148840"/>
          </a:xfrm>
          <a:prstGeom prst="roundRect">
            <a:avLst>
              <a:gd name="adj" fmla="val 6000"/>
            </a:avLst>
          </a:prstGeom>
          <a:solidFill>
            <a:srgbClr val="E3F4EC"/>
          </a:solidFill>
          <a:ln w="12700">
            <a:solidFill>
              <a:srgbClr val="B7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201168" bIns="109728">
            <a:norm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F7B52"/>
                </a:solidFill>
                <a:latin typeface="IBM Plex Sans Thai"/>
              </a:rPr>
              <a:t>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0F1720"/>
                </a:solidFill>
                <a:latin typeface="IBM Plex Sans Thai"/>
              </a:rPr>
              <a:t>ทุกคำตอบตรวจย้อนกลับได้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3B4A5A"/>
                </a:solidFill>
                <a:latin typeface="IBM Plex Sans Thai"/>
              </a:rPr>
              <a:t>มีช่วงเวลา หน่วย ความครอบคลุม ข้อจำกัด และหมายเลขอ้างอิงผลลัพธ์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995928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3B4A5A"/>
                </a:solidFill>
                <a:latin typeface="IBM Plex Sans Thai"/>
              </a:rPr>
              <a:t>เป้าหมายของหัวข้อนี้ไม่ใช่การใส่ AI ให้ระบบดูทันสมัย แต่คือการออกแบบโครงสร้างข้อมูลที่ทำให้คำตอบของ AI </a:t>
            </a:r>
            <a:r>
              <a:rPr sz="1500" b="1">
                <a:solidFill>
                  <a:srgbClr val="0F1720"/>
                </a:solidFill>
                <a:latin typeface="IBM Plex Sans Thai"/>
              </a:rPr>
              <a:t>เชื่อถือได้ ตรวจสอบได้ และปลอดภัยตามสิทธิ์ผู้ใช้</a:t>
            </a:r>
            <a:r>
              <a:rPr sz="1500" b="0">
                <a:solidFill>
                  <a:srgbClr val="3B4A5A"/>
                </a:solidFill>
                <a:latin typeface="IBM Plex Sans Thai"/>
              </a:rPr>
              <a:t> ซึ่งเป็นสิ่งที่ระบบธุรกิจจริงต้องการ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199632"/>
            <a:ext cx="11057839" cy="127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0936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LaundroTwin — Smart Laundry Management and Analytics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093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F"/>
                </a:solidFill>
                <a:latin typeface="IBM Plex Sans Thai"/>
              </a:rPr>
              <a:t>จบการนำเสนอ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LaundroTwin — Safe AI Executive Assistant (R08 / F-11)</dc:title>
  <dc:subject/>
  <dc:creator>LaundroTwin final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